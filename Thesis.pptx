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7" r:id="rId2"/>
    <p:sldId id="258" r:id="rId3"/>
    <p:sldId id="267" r:id="rId4"/>
    <p:sldId id="266" r:id="rId5"/>
    <p:sldId id="259" r:id="rId6"/>
    <p:sldId id="260" r:id="rId7"/>
    <p:sldId id="261" r:id="rId8"/>
    <p:sldId id="262" r:id="rId9"/>
    <p:sldId id="268" r:id="rId10"/>
    <p:sldId id="270" r:id="rId11"/>
    <p:sldId id="271" r:id="rId12"/>
    <p:sldId id="272" r:id="rId13"/>
    <p:sldId id="273" r:id="rId14"/>
    <p:sldId id="269" r:id="rId15"/>
    <p:sldId id="263" r:id="rId16"/>
    <p:sldId id="264"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2" d="100"/>
          <a:sy n="162" d="100"/>
        </p:scale>
        <p:origin x="144"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039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4909B-EC0A-ABBE-1452-FAD8A5CE0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02A6A-4491-E007-8015-B1F3BF88EB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E78B46-009D-379D-F102-E62A05EBEF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1E66F8-E086-D808-E330-857C02A82EA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13722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0EEFB-33F7-41D2-9A94-176E9ACB9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BAB3A-7162-9AFF-0247-90BB27AA9B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F626FB0-2A93-958F-6FB7-26D30965E1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82B997-F1C4-1444-8F2C-D2657D07D4C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39996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D50D0-08B7-E214-6311-692EBA1B8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6244A-05FF-EC5A-7DA0-2512A5589A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9CACB9-B0DB-1A35-3237-F1D9076200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476F3-CC52-3888-6003-6797288717B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29214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86C66-E876-B41E-789B-45BF44AA3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A3B7C-D0D8-981C-A076-1DA7374A4E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2F81A61-9EED-3E8F-4CB0-4C888E4BC1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8C41A8-9BC5-1789-5625-AA442298BE4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7415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F2144-C4C0-DEE3-93C9-D18DDD5B4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7FE84-5DFA-BEAA-0E8D-165921A045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FFE2AF-3304-3397-6234-480932D912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B00479-F3B7-6146-49A5-9C850803D63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986442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89F9B-4A33-5A52-9781-D768F29AB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50A7B-C632-2020-6214-06F525405F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759A4E-CE03-3E47-FFE8-C875498B0F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4E7CC4-16E2-9CC7-466F-E8478DBB848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46173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8F02E-9282-C6A1-DA07-A4C81A620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4CD5F-A019-A0A9-4CE5-67B6B33913C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8377BD-8BF1-3A7F-7350-640213E5DD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84C49A-F5D8-8740-A875-20F3C1D139D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87176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D4DDA-65AD-A9AB-35E3-565CA8902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59F66-117C-E8AA-883C-088C24302F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0E1C8C0-00EC-47F1-A9AD-C2FCF7FFEB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DDFF29-F459-A7CD-F9A0-640E1E25703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50500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995CF-FA2E-240A-91ED-C6CDA5F50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2A93F-BDC1-4E75-42F6-42DB7A6309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2F1F7F-750E-CB22-CFA9-2BBF26E5F7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00F9D5-DCD6-DEDB-F566-47B3E40519E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193233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9" name="Text 1">
            <a:extLst>
              <a:ext uri="{FF2B5EF4-FFF2-40B4-BE49-F238E27FC236}">
                <a16:creationId xmlns:a16="http://schemas.microsoft.com/office/drawing/2014/main" id="{89EAA699-8913-E23D-3FAB-F2D30BFD02FA}"/>
              </a:ext>
            </a:extLst>
          </p:cNvPr>
          <p:cNvSpPr/>
          <p:nvPr/>
        </p:nvSpPr>
        <p:spPr>
          <a:xfrm>
            <a:off x="320081" y="1808564"/>
            <a:ext cx="7962900" cy="1255583"/>
          </a:xfrm>
          <a:prstGeom prst="rect">
            <a:avLst/>
          </a:prstGeom>
          <a:noFill/>
          <a:ln/>
        </p:spPr>
        <p:txBody>
          <a:bodyPr wrap="square" lIns="0" tIns="0" rIns="0" bIns="0" rtlCol="0" anchor="t"/>
          <a:lstStyle/>
          <a:p>
            <a:pPr marL="0" indent="0" algn="ctr">
              <a:lnSpc>
                <a:spcPts val="2688"/>
              </a:lnSpc>
              <a:buNone/>
            </a:pPr>
            <a:r>
              <a:rPr lang="en-US" sz="1920" b="1" dirty="0">
                <a:solidFill>
                  <a:schemeClr val="bg2"/>
                </a:solidFill>
                <a:latin typeface="Arial" pitchFamily="34" charset="0"/>
                <a:ea typeface="Arial" pitchFamily="34" charset="-122"/>
                <a:cs typeface="Arial" pitchFamily="34" charset="-120"/>
              </a:rPr>
              <a:t>Explainable AI Financial Platform using </a:t>
            </a:r>
          </a:p>
          <a:p>
            <a:pPr marL="0" indent="0" algn="ctr">
              <a:lnSpc>
                <a:spcPts val="2688"/>
              </a:lnSpc>
              <a:buNone/>
            </a:pPr>
            <a:r>
              <a:rPr lang="en-US" sz="1920" b="1" dirty="0">
                <a:solidFill>
                  <a:schemeClr val="bg2"/>
                </a:solidFill>
                <a:latin typeface="Arial" pitchFamily="34" charset="0"/>
                <a:ea typeface="Arial" pitchFamily="34" charset="-122"/>
                <a:cs typeface="Arial" pitchFamily="34" charset="-120"/>
              </a:rPr>
              <a:t>Attention Based Deep Learning Models</a:t>
            </a:r>
          </a:p>
          <a:p>
            <a:pPr marL="0" indent="0" algn="ctr">
              <a:lnSpc>
                <a:spcPts val="2688"/>
              </a:lnSpc>
              <a:buNone/>
            </a:pPr>
            <a:r>
              <a:rPr lang="en-US" sz="1920" b="1" dirty="0">
                <a:solidFill>
                  <a:schemeClr val="bg2"/>
                </a:solidFill>
                <a:latin typeface="Arial" pitchFamily="34" charset="0"/>
                <a:ea typeface="Arial" pitchFamily="34" charset="-122"/>
                <a:cs typeface="Arial" pitchFamily="34" charset="-120"/>
              </a:rPr>
              <a:t>Batch-09 </a:t>
            </a:r>
          </a:p>
          <a:p>
            <a:pPr marL="0" indent="0" algn="ctr">
              <a:lnSpc>
                <a:spcPts val="2688"/>
              </a:lnSpc>
              <a:buNone/>
            </a:pPr>
            <a:endParaRPr lang="en-US" sz="1920" dirty="0"/>
          </a:p>
        </p:txBody>
      </p:sp>
      <p:sp>
        <p:nvSpPr>
          <p:cNvPr id="14" name="Text 1">
            <a:extLst>
              <a:ext uri="{FF2B5EF4-FFF2-40B4-BE49-F238E27FC236}">
                <a16:creationId xmlns:a16="http://schemas.microsoft.com/office/drawing/2014/main" id="{50614280-41A0-0108-19EF-A8421B7B56CC}"/>
              </a:ext>
            </a:extLst>
          </p:cNvPr>
          <p:cNvSpPr/>
          <p:nvPr/>
        </p:nvSpPr>
        <p:spPr>
          <a:xfrm>
            <a:off x="5746793" y="3855012"/>
            <a:ext cx="3280369" cy="1084133"/>
          </a:xfrm>
          <a:prstGeom prst="rect">
            <a:avLst/>
          </a:prstGeom>
          <a:noFill/>
          <a:ln/>
        </p:spPr>
        <p:txBody>
          <a:bodyPr wrap="square" lIns="0" tIns="0" rIns="0" bIns="0" rtlCol="0" anchor="t"/>
          <a:lstStyle/>
          <a:p>
            <a:pPr marL="0" indent="0">
              <a:lnSpc>
                <a:spcPts val="2688"/>
              </a:lnSpc>
              <a:buNone/>
            </a:pPr>
            <a:r>
              <a:rPr lang="en-US" sz="1400" b="1" dirty="0" err="1">
                <a:solidFill>
                  <a:schemeClr val="bg2"/>
                </a:solidFill>
                <a:latin typeface="Arial" pitchFamily="34" charset="0"/>
                <a:ea typeface="Arial" pitchFamily="34" charset="-122"/>
                <a:cs typeface="Arial" pitchFamily="34" charset="-120"/>
              </a:rPr>
              <a:t>M.Arvind</a:t>
            </a:r>
            <a:r>
              <a:rPr lang="en-US" sz="1400" b="1" dirty="0">
                <a:solidFill>
                  <a:schemeClr val="bg2"/>
                </a:solidFill>
                <a:latin typeface="Arial" pitchFamily="34" charset="0"/>
                <a:ea typeface="Arial" pitchFamily="34" charset="-122"/>
                <a:cs typeface="Arial" pitchFamily="34" charset="-120"/>
              </a:rPr>
              <a:t>                        2211CS030009 </a:t>
            </a:r>
          </a:p>
          <a:p>
            <a:pPr marL="0" indent="0">
              <a:lnSpc>
                <a:spcPts val="2688"/>
              </a:lnSpc>
              <a:buNone/>
            </a:pPr>
            <a:r>
              <a:rPr lang="en-US" sz="1400" b="1" dirty="0" err="1">
                <a:solidFill>
                  <a:schemeClr val="bg2"/>
                </a:solidFill>
                <a:latin typeface="Arial" pitchFamily="34" charset="0"/>
                <a:ea typeface="Arial" pitchFamily="34" charset="-122"/>
                <a:cs typeface="Arial" pitchFamily="34" charset="-120"/>
              </a:rPr>
              <a:t>B.Vamshi</a:t>
            </a:r>
            <a:r>
              <a:rPr lang="en-US" sz="1400" b="1" dirty="0">
                <a:solidFill>
                  <a:schemeClr val="bg2"/>
                </a:solidFill>
                <a:latin typeface="Arial" pitchFamily="34" charset="0"/>
                <a:ea typeface="Arial" pitchFamily="34" charset="-122"/>
                <a:cs typeface="Arial" pitchFamily="34" charset="-120"/>
              </a:rPr>
              <a:t> Reddy           2211CS030028         </a:t>
            </a:r>
          </a:p>
          <a:p>
            <a:pPr marL="0" indent="0">
              <a:lnSpc>
                <a:spcPts val="2688"/>
              </a:lnSpc>
              <a:buNone/>
            </a:pPr>
            <a:r>
              <a:rPr lang="en-US" sz="1400" b="1" dirty="0" err="1">
                <a:solidFill>
                  <a:schemeClr val="bg2"/>
                </a:solidFill>
                <a:latin typeface="Arial" pitchFamily="34" charset="0"/>
                <a:ea typeface="Arial" pitchFamily="34" charset="-122"/>
                <a:cs typeface="Arial" pitchFamily="34" charset="-120"/>
              </a:rPr>
              <a:t>G.Dattu</a:t>
            </a:r>
            <a:r>
              <a:rPr lang="en-US" sz="1400" b="1" dirty="0">
                <a:solidFill>
                  <a:schemeClr val="bg2"/>
                </a:solidFill>
                <a:latin typeface="Arial" pitchFamily="34" charset="0"/>
                <a:ea typeface="Arial" pitchFamily="34" charset="-122"/>
                <a:cs typeface="Arial" pitchFamily="34" charset="-120"/>
              </a:rPr>
              <a:t> Raghunandan 2211CS030063</a:t>
            </a:r>
          </a:p>
        </p:txBody>
      </p:sp>
      <p:sp>
        <p:nvSpPr>
          <p:cNvPr id="15" name="Text 1">
            <a:extLst>
              <a:ext uri="{FF2B5EF4-FFF2-40B4-BE49-F238E27FC236}">
                <a16:creationId xmlns:a16="http://schemas.microsoft.com/office/drawing/2014/main" id="{CAD2CF72-23DE-638D-EC06-0C944D8F2785}"/>
              </a:ext>
            </a:extLst>
          </p:cNvPr>
          <p:cNvSpPr/>
          <p:nvPr/>
        </p:nvSpPr>
        <p:spPr>
          <a:xfrm>
            <a:off x="190500" y="3855012"/>
            <a:ext cx="1918888" cy="640733"/>
          </a:xfrm>
          <a:prstGeom prst="rect">
            <a:avLst/>
          </a:prstGeom>
          <a:noFill/>
          <a:ln/>
        </p:spPr>
        <p:txBody>
          <a:bodyPr wrap="square" lIns="0" tIns="0" rIns="0" bIns="0" rtlCol="0" anchor="t"/>
          <a:lstStyle/>
          <a:p>
            <a:pPr marL="0" indent="0">
              <a:lnSpc>
                <a:spcPts val="2688"/>
              </a:lnSpc>
              <a:buNone/>
            </a:pPr>
            <a:r>
              <a:rPr lang="en-US" sz="1400" b="1" dirty="0">
                <a:solidFill>
                  <a:schemeClr val="bg2"/>
                </a:solidFill>
                <a:latin typeface="Arial" pitchFamily="34" charset="0"/>
                <a:ea typeface="Arial" pitchFamily="34" charset="-122"/>
                <a:cs typeface="Arial" pitchFamily="34" charset="-120"/>
              </a:rPr>
              <a:t>Guide: </a:t>
            </a:r>
            <a:r>
              <a:rPr lang="en-US" sz="1400" b="1" dirty="0" err="1">
                <a:solidFill>
                  <a:schemeClr val="bg2"/>
                </a:solidFill>
                <a:latin typeface="Arial" pitchFamily="34" charset="0"/>
                <a:ea typeface="Arial" pitchFamily="34" charset="-122"/>
                <a:cs typeface="Arial" pitchFamily="34" charset="-120"/>
              </a:rPr>
              <a:t>Dr.D.Anupama</a:t>
            </a:r>
            <a:endParaRPr lang="en-US" sz="1400" b="1" dirty="0">
              <a:solidFill>
                <a:schemeClr val="bg2"/>
              </a:solidFill>
              <a:latin typeface="Arial" pitchFamily="34" charset="0"/>
              <a:ea typeface="Arial" pitchFamily="34" charset="-122"/>
              <a:cs typeface="Arial" pitchFamily="34" charset="-120"/>
            </a:endParaRPr>
          </a:p>
          <a:p>
            <a:pPr marL="0" indent="0">
              <a:lnSpc>
                <a:spcPts val="2688"/>
              </a:lnSpc>
              <a:buNone/>
            </a:pPr>
            <a:r>
              <a:rPr lang="en-US" sz="1400" b="1">
                <a:solidFill>
                  <a:schemeClr val="bg2"/>
                </a:solidFill>
                <a:latin typeface="Arial" pitchFamily="34" charset="0"/>
                <a:ea typeface="Arial" pitchFamily="34" charset="-122"/>
                <a:cs typeface="Arial" pitchFamily="34" charset="-120"/>
              </a:rPr>
              <a:t>Associate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1">
            <a:extLst>
              <a:ext uri="{FF2B5EF4-FFF2-40B4-BE49-F238E27FC236}">
                <a16:creationId xmlns:a16="http://schemas.microsoft.com/office/drawing/2014/main" id="{37700E0D-BE79-8198-8F21-9D51A5DCEB85}"/>
              </a:ext>
            </a:extLst>
          </p:cNvPr>
          <p:cNvSpPr/>
          <p:nvPr/>
        </p:nvSpPr>
        <p:spPr>
          <a:xfrm>
            <a:off x="311150" y="399673"/>
            <a:ext cx="8148564" cy="4523554"/>
          </a:xfrm>
          <a:prstGeom prst="rect">
            <a:avLst/>
          </a:prstGeom>
          <a:noFill/>
          <a:ln/>
        </p:spPr>
        <p:txBody>
          <a:bodyPr wrap="square" lIns="0" tIns="0" rIns="0" bIns="0" rtlCol="0" anchor="t"/>
          <a:lstStyle/>
          <a:p>
            <a:pPr>
              <a:lnSpc>
                <a:spcPts val="2688"/>
              </a:lnSpc>
            </a:pPr>
            <a:r>
              <a:rPr lang="en-US" sz="1920" b="1" dirty="0">
                <a:solidFill>
                  <a:srgbClr val="00B0F0"/>
                </a:solidFill>
                <a:latin typeface="Arial" pitchFamily="34" charset="0"/>
                <a:ea typeface="Arial" pitchFamily="34" charset="-122"/>
                <a:cs typeface="Arial" pitchFamily="34" charset="-120"/>
              </a:rPr>
              <a:t>ABSTRACT</a:t>
            </a:r>
          </a:p>
          <a:p>
            <a:pPr algn="just">
              <a:lnSpc>
                <a:spcPct val="125000"/>
              </a:lnSpc>
            </a:pPr>
            <a:endParaRPr lang="en-US" sz="1600" dirty="0">
              <a:solidFill>
                <a:srgbClr val="FFFFFF"/>
              </a:solidFill>
              <a:latin typeface="Calibri" pitchFamily="34" charset="0"/>
              <a:ea typeface="Calibri" pitchFamily="34" charset="-122"/>
              <a:cs typeface="Calibri" pitchFamily="34" charset="-120"/>
            </a:endParaRPr>
          </a:p>
          <a:p>
            <a:pPr algn="just">
              <a:lnSpc>
                <a:spcPct val="125000"/>
              </a:lnSpc>
            </a:pPr>
            <a:r>
              <a:rPr lang="en-US" sz="1600" dirty="0">
                <a:solidFill>
                  <a:srgbClr val="FFFFFF"/>
                </a:solidFill>
                <a:latin typeface="Calibri" pitchFamily="34" charset="0"/>
                <a:ea typeface="Calibri" pitchFamily="34" charset="-122"/>
                <a:cs typeface="Calibri" pitchFamily="34" charset="-120"/>
              </a:rPr>
              <a:t>Financial institutions increasingly rely on AI for predictive analytics, yet regulatory mandates such as GDPR and SEC requirements restrict deployment of "black box" deep learning models due to lack of transparency.</a:t>
            </a:r>
            <a:endParaRPr lang="en-US" sz="1600" dirty="0"/>
          </a:p>
          <a:p>
            <a:pPr algn="just">
              <a:lnSpc>
                <a:spcPct val="125000"/>
              </a:lnSpc>
            </a:pPr>
            <a:endParaRPr lang="en-US" sz="1600" dirty="0"/>
          </a:p>
          <a:p>
            <a:pPr algn="just">
              <a:lnSpc>
                <a:spcPct val="125000"/>
              </a:lnSpc>
            </a:pPr>
            <a:r>
              <a:rPr lang="en-US" sz="1600" dirty="0">
                <a:solidFill>
                  <a:srgbClr val="FFFFFF"/>
                </a:solidFill>
                <a:latin typeface="Calibri" pitchFamily="34" charset="0"/>
                <a:ea typeface="Calibri" pitchFamily="34" charset="-122"/>
                <a:cs typeface="Calibri" pitchFamily="34" charset="-120"/>
              </a:rPr>
              <a:t>Our project presents an end-to-end Explainable AI (XAI) system that predicts stock price movements and provides human-interpretable reasoning for every forecast.</a:t>
            </a:r>
            <a:endParaRPr lang="en-US" sz="1600" dirty="0"/>
          </a:p>
          <a:p>
            <a:pPr algn="just">
              <a:lnSpc>
                <a:spcPct val="125000"/>
              </a:lnSpc>
            </a:pPr>
            <a:r>
              <a:rPr lang="en-US" sz="1600" dirty="0">
                <a:solidFill>
                  <a:srgbClr val="FFFFFF"/>
                </a:solidFill>
                <a:latin typeface="Calibri" pitchFamily="34" charset="0"/>
                <a:ea typeface="Calibri" pitchFamily="34" charset="-122"/>
                <a:cs typeface="Calibri" pitchFamily="34" charset="-120"/>
              </a:rPr>
              <a:t>The system combines:</a:t>
            </a:r>
            <a:endParaRPr lang="en-US" sz="1600" dirty="0"/>
          </a:p>
          <a:p>
            <a:pPr algn="just">
              <a:lnSpc>
                <a:spcPct val="125000"/>
              </a:lnSpc>
            </a:pPr>
            <a:r>
              <a:rPr lang="en-US" sz="1600" dirty="0">
                <a:solidFill>
                  <a:srgbClr val="FFFFFF"/>
                </a:solidFill>
                <a:latin typeface="Calibri" pitchFamily="34" charset="0"/>
                <a:ea typeface="Calibri" pitchFamily="34" charset="-122"/>
                <a:cs typeface="Calibri" pitchFamily="34" charset="-120"/>
              </a:rPr>
              <a:t>• A stacked LSTM + Multi-Head Attention model over a 60-day lookback window</a:t>
            </a:r>
            <a:endParaRPr lang="en-US" sz="1600" dirty="0"/>
          </a:p>
          <a:p>
            <a:pPr algn="just">
              <a:lnSpc>
                <a:spcPct val="125000"/>
              </a:lnSpc>
            </a:pPr>
            <a:r>
              <a:rPr lang="en-US" sz="1600" dirty="0">
                <a:solidFill>
                  <a:srgbClr val="FFFFFF"/>
                </a:solidFill>
                <a:latin typeface="Calibri" pitchFamily="34" charset="0"/>
                <a:ea typeface="Calibri" pitchFamily="34" charset="-122"/>
                <a:cs typeface="Calibri" pitchFamily="34" charset="-120"/>
              </a:rPr>
              <a:t>• SHAP (SHapley Additive exPlanations) for feature-level transparency</a:t>
            </a:r>
            <a:endParaRPr lang="en-US" sz="1600" dirty="0"/>
          </a:p>
          <a:p>
            <a:pPr algn="just">
              <a:lnSpc>
                <a:spcPct val="125000"/>
              </a:lnSpc>
            </a:pPr>
            <a:r>
              <a:rPr lang="en-US" sz="1600" dirty="0">
                <a:solidFill>
                  <a:srgbClr val="FFFFFF"/>
                </a:solidFill>
                <a:latin typeface="Calibri" pitchFamily="34" charset="0"/>
                <a:ea typeface="Calibri" pitchFamily="34" charset="-122"/>
                <a:cs typeface="Calibri" pitchFamily="34" charset="-120"/>
              </a:rPr>
              <a:t>• KMeans market regime detection (Calm / Trending / Volatile)</a:t>
            </a:r>
            <a:endParaRPr lang="en-US" sz="1600" dirty="0"/>
          </a:p>
          <a:p>
            <a:pPr algn="just">
              <a:lnSpc>
                <a:spcPct val="125000"/>
              </a:lnSpc>
            </a:pPr>
            <a:r>
              <a:rPr lang="en-US" sz="1600" dirty="0">
                <a:solidFill>
                  <a:srgbClr val="FFFFFF"/>
                </a:solidFill>
                <a:latin typeface="Calibri" pitchFamily="34" charset="0"/>
                <a:ea typeface="Calibri" pitchFamily="34" charset="-122"/>
                <a:cs typeface="Calibri" pitchFamily="34" charset="-120"/>
              </a:rPr>
              <a:t>• React-based dashboard supporting 50 stocks with real-time predictions</a:t>
            </a:r>
            <a:endParaRPr lang="en-US" sz="1600" dirty="0"/>
          </a:p>
          <a:p>
            <a:pPr>
              <a:lnSpc>
                <a:spcPts val="2688"/>
              </a:lnSpc>
            </a:pPr>
            <a:endParaRPr lang="en-US" sz="1920" b="1" dirty="0">
              <a:solidFill>
                <a:srgbClr val="00B0F0"/>
              </a:solidFill>
              <a:latin typeface="Arial" pitchFamily="34" charset="0"/>
              <a:ea typeface="Arial" pitchFamily="34" charset="-122"/>
              <a:cs typeface="Arial"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A260-1337-BC3C-288C-48A3F378D30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8B4D794-89F4-E3E4-4D1B-4A00E43CB646}"/>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1">
            <a:extLst>
              <a:ext uri="{FF2B5EF4-FFF2-40B4-BE49-F238E27FC236}">
                <a16:creationId xmlns:a16="http://schemas.microsoft.com/office/drawing/2014/main" id="{EE043215-0B18-BD95-CE2B-796502F6E017}"/>
              </a:ext>
            </a:extLst>
          </p:cNvPr>
          <p:cNvSpPr/>
          <p:nvPr/>
        </p:nvSpPr>
        <p:spPr>
          <a:xfrm>
            <a:off x="311149" y="399673"/>
            <a:ext cx="8142509" cy="4523554"/>
          </a:xfrm>
          <a:prstGeom prst="rect">
            <a:avLst/>
          </a:prstGeom>
          <a:noFill/>
          <a:ln/>
        </p:spPr>
        <p:txBody>
          <a:bodyPr wrap="square" lIns="0" tIns="0" rIns="0" bIns="0" rtlCol="0" anchor="t"/>
          <a:lstStyle/>
          <a:p>
            <a:pPr>
              <a:lnSpc>
                <a:spcPts val="2688"/>
              </a:lnSpc>
            </a:pPr>
            <a:r>
              <a:rPr lang="en-US" sz="1920" b="1" dirty="0">
                <a:solidFill>
                  <a:srgbClr val="00B0F0"/>
                </a:solidFill>
                <a:latin typeface="Arial" pitchFamily="34" charset="0"/>
                <a:ea typeface="Arial" pitchFamily="34" charset="-122"/>
                <a:cs typeface="Arial" pitchFamily="34" charset="-120"/>
              </a:rPr>
              <a:t>INTRODUCTION</a:t>
            </a:r>
          </a:p>
          <a:p>
            <a:pPr algn="just"/>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just"/>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Financial markets generate vast amounts of time-series data every trading session. Predicting the direction and magnitude of stock price movements has become a central challenge in the FinTech domain. With the rapid advancement of deep learning, models such as Long Short-Term Memory (LSTM) networks have demonstrated strong performance in capturing temporal dependencies within sequential data. However, despite their predictive power, these models are frequently criticized as "black boxes" they make accurate predictions but provide no explanation for their decisions.</a:t>
            </a:r>
          </a:p>
          <a:p>
            <a:pPr algn="just"/>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just"/>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Regulatory bodies including the SEBI, GDPR and SEC mandate explainability for AI systems deployed in financial settings. Banks and institutional investors cannot deploy models they cannot justify to auditors, compliance officers, or clients. This creates a critical tension: the most powerful models are the least interpretable.</a:t>
            </a:r>
          </a:p>
          <a:p>
            <a:pPr>
              <a:lnSpc>
                <a:spcPts val="2688"/>
              </a:lnSpc>
            </a:pPr>
            <a:endParaRPr lang="en-US" sz="1920" b="1" dirty="0">
              <a:solidFill>
                <a:srgbClr val="00B0F0"/>
              </a:solidFill>
              <a:latin typeface="Arial" pitchFamily="34" charset="0"/>
              <a:ea typeface="Arial" pitchFamily="34" charset="-122"/>
              <a:cs typeface="Arial" pitchFamily="34" charset="-120"/>
            </a:endParaRPr>
          </a:p>
        </p:txBody>
      </p:sp>
    </p:spTree>
    <p:extLst>
      <p:ext uri="{BB962C8B-B14F-4D97-AF65-F5344CB8AC3E}">
        <p14:creationId xmlns:p14="http://schemas.microsoft.com/office/powerpoint/2010/main" val="1907534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21374-9DC0-1710-C4C1-CDCF03880D8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33EBEFB-C3CD-9E56-3C45-823FC3CC60C2}"/>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1">
            <a:extLst>
              <a:ext uri="{FF2B5EF4-FFF2-40B4-BE49-F238E27FC236}">
                <a16:creationId xmlns:a16="http://schemas.microsoft.com/office/drawing/2014/main" id="{68519A3D-B08C-7621-1C70-0E9E2496CFD5}"/>
              </a:ext>
            </a:extLst>
          </p:cNvPr>
          <p:cNvSpPr/>
          <p:nvPr/>
        </p:nvSpPr>
        <p:spPr>
          <a:xfrm>
            <a:off x="311150" y="399673"/>
            <a:ext cx="8148564" cy="4523554"/>
          </a:xfrm>
          <a:prstGeom prst="rect">
            <a:avLst/>
          </a:prstGeom>
          <a:noFill/>
          <a:ln/>
        </p:spPr>
        <p:txBody>
          <a:bodyPr wrap="square" lIns="0" tIns="0" rIns="0" bIns="0" rtlCol="0" anchor="t"/>
          <a:lstStyle/>
          <a:p>
            <a:pPr>
              <a:lnSpc>
                <a:spcPts val="2688"/>
              </a:lnSpc>
            </a:pPr>
            <a:r>
              <a:rPr lang="en-US" sz="1920" b="1" dirty="0">
                <a:solidFill>
                  <a:srgbClr val="00B0F0"/>
                </a:solidFill>
                <a:latin typeface="Arial" pitchFamily="34" charset="0"/>
                <a:ea typeface="Arial" pitchFamily="34" charset="-122"/>
                <a:cs typeface="Arial" pitchFamily="34" charset="-120"/>
              </a:rPr>
              <a:t>OBJECTIVE:</a:t>
            </a:r>
            <a:endParaRPr lang="en-US" sz="1920" b="1" dirty="0">
              <a:solidFill>
                <a:schemeClr val="bg2"/>
              </a:solidFill>
              <a:latin typeface="Arial" pitchFamily="34" charset="0"/>
              <a:ea typeface="Arial" pitchFamily="34" charset="-122"/>
              <a:cs typeface="Arial" pitchFamily="34" charset="-120"/>
            </a:endParaRPr>
          </a:p>
          <a:p>
            <a:pPr marL="342900" indent="-342900">
              <a:lnSpc>
                <a:spcPct val="150000"/>
              </a:lnSpc>
              <a:buFont typeface="Arial" panose="020B0604020202020204" pitchFamily="34" charset="0"/>
              <a:buChar char="•"/>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Build an attention-based LSTM model achieving directional accuracy on stock price movements</a:t>
            </a:r>
          </a:p>
          <a:p>
            <a:pPr marL="342900" indent="-342900">
              <a:lnSpc>
                <a:spcPct val="150000"/>
              </a:lnSpc>
              <a:buFont typeface="Arial" panose="020B0604020202020204" pitchFamily="34" charset="0"/>
              <a:buChar char="•"/>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Provide SHAP-based explainability explaining which features and historical timeframes drove each prediction decision</a:t>
            </a:r>
          </a:p>
          <a:p>
            <a:pPr marL="342900" indent="-342900">
              <a:lnSpc>
                <a:spcPct val="150000"/>
              </a:lnSpc>
              <a:buFont typeface="Arial" panose="020B0604020202020204" pitchFamily="34" charset="0"/>
              <a:buChar char="•"/>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Deploy a production ready dashboard enabling finance professionals to visualize predictions, explanations, and market regimes in real time</a:t>
            </a:r>
          </a:p>
          <a:p>
            <a:pPr marL="0" indent="0">
              <a:lnSpc>
                <a:spcPts val="2688"/>
              </a:lnSpc>
              <a:buNone/>
            </a:pPr>
            <a:endParaRPr lang="en-US" sz="1400" b="1" dirty="0">
              <a:solidFill>
                <a:srgbClr val="CBD5E1"/>
              </a:solidFill>
              <a:latin typeface="Arial" pitchFamily="34" charset="0"/>
              <a:ea typeface="Arial" pitchFamily="34" charset="-122"/>
              <a:cs typeface="Arial" pitchFamily="34" charset="-120"/>
            </a:endParaRPr>
          </a:p>
        </p:txBody>
      </p:sp>
    </p:spTree>
    <p:extLst>
      <p:ext uri="{BB962C8B-B14F-4D97-AF65-F5344CB8AC3E}">
        <p14:creationId xmlns:p14="http://schemas.microsoft.com/office/powerpoint/2010/main" val="291150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C451E8A4-2A12-794B-7F99-6F39F3130F7B}"/>
              </a:ext>
            </a:extLst>
          </p:cNvPr>
          <p:cNvSpPr/>
          <p:nvPr/>
        </p:nvSpPr>
        <p:spPr>
          <a:xfrm>
            <a:off x="311150" y="232753"/>
            <a:ext cx="4330700" cy="386788"/>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LITERATURE SURVEY</a:t>
            </a:r>
          </a:p>
        </p:txBody>
      </p:sp>
      <p:graphicFrame>
        <p:nvGraphicFramePr>
          <p:cNvPr id="6" name="Table 0">
            <a:extLst>
              <a:ext uri="{FF2B5EF4-FFF2-40B4-BE49-F238E27FC236}">
                <a16:creationId xmlns:a16="http://schemas.microsoft.com/office/drawing/2014/main" id="{E0052E5E-D6DF-32CD-4A64-5187F78D177B}"/>
              </a:ext>
            </a:extLst>
          </p:cNvPr>
          <p:cNvGraphicFramePr>
            <a:graphicFrameLocks noGrp="1"/>
          </p:cNvGraphicFramePr>
          <p:nvPr>
            <p:extLst>
              <p:ext uri="{D42A27DB-BD31-4B8C-83A1-F6EECF244321}">
                <p14:modId xmlns:p14="http://schemas.microsoft.com/office/powerpoint/2010/main" val="4251623964"/>
              </p:ext>
            </p:extLst>
          </p:nvPr>
        </p:nvGraphicFramePr>
        <p:xfrm>
          <a:off x="311150" y="732271"/>
          <a:ext cx="8595360" cy="2852928"/>
        </p:xfrm>
        <a:graphic>
          <a:graphicData uri="http://schemas.openxmlformats.org/drawingml/2006/table">
            <a:tbl>
              <a:tblPr/>
              <a:tblGrid>
                <a:gridCol w="2011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713232">
                <a:tc>
                  <a:txBody>
                    <a:bodyPr/>
                    <a:lstStyle/>
                    <a:p>
                      <a:pPr marL="0" indent="0" algn="l">
                        <a:buNone/>
                      </a:pPr>
                      <a:r>
                        <a:rPr lang="en-US" sz="1050" b="1" dirty="0">
                          <a:solidFill>
                            <a:srgbClr val="00B0F0"/>
                          </a:solidFill>
                          <a:latin typeface="Calibri" pitchFamily="34" charset="0"/>
                          <a:ea typeface="Calibri" pitchFamily="34" charset="-122"/>
                          <a:cs typeface="Calibri" pitchFamily="34" charset="-120"/>
                        </a:rPr>
                        <a:t>Paper</a:t>
                      </a:r>
                      <a:endParaRPr lang="en-US" sz="1050" dirty="0">
                        <a:solidFill>
                          <a:srgbClr val="00B0F0"/>
                        </a:solidFill>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050" b="1" dirty="0">
                          <a:solidFill>
                            <a:srgbClr val="00B0F0"/>
                          </a:solidFill>
                          <a:latin typeface="Calibri" pitchFamily="34" charset="0"/>
                          <a:ea typeface="Calibri" pitchFamily="34" charset="-122"/>
                          <a:cs typeface="Calibri" pitchFamily="34" charset="-120"/>
                        </a:rPr>
                        <a:t>Authors &amp; Year</a:t>
                      </a:r>
                      <a:endParaRPr lang="en-US" sz="1050" dirty="0">
                        <a:solidFill>
                          <a:srgbClr val="00B0F0"/>
                        </a:solidFill>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050" b="1" dirty="0">
                          <a:solidFill>
                            <a:srgbClr val="00B0F0"/>
                          </a:solidFill>
                          <a:latin typeface="Calibri" pitchFamily="34" charset="0"/>
                          <a:ea typeface="Calibri" pitchFamily="34" charset="-122"/>
                          <a:cs typeface="Calibri" pitchFamily="34" charset="-120"/>
                        </a:rPr>
                        <a:t>Model</a:t>
                      </a:r>
                      <a:endParaRPr lang="en-US" sz="1050" dirty="0">
                        <a:solidFill>
                          <a:srgbClr val="00B0F0"/>
                        </a:solidFill>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050" b="1" dirty="0">
                          <a:solidFill>
                            <a:srgbClr val="00B0F0"/>
                          </a:solidFill>
                          <a:latin typeface="Calibri" pitchFamily="34" charset="0"/>
                          <a:ea typeface="Calibri" pitchFamily="34" charset="-122"/>
                          <a:cs typeface="Calibri" pitchFamily="34" charset="-120"/>
                        </a:rPr>
                        <a:t>Key Metrics</a:t>
                      </a:r>
                      <a:endParaRPr lang="en-US" sz="1050" dirty="0">
                        <a:solidFill>
                          <a:srgbClr val="00B0F0"/>
                        </a:solidFill>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050" b="1" dirty="0">
                          <a:solidFill>
                            <a:srgbClr val="00B0F0"/>
                          </a:solidFill>
                          <a:latin typeface="Calibri" pitchFamily="34" charset="0"/>
                          <a:ea typeface="Calibri" pitchFamily="34" charset="-122"/>
                          <a:cs typeface="Calibri" pitchFamily="34" charset="-120"/>
                        </a:rPr>
                        <a:t>Limitation</a:t>
                      </a:r>
                      <a:endParaRPr lang="en-US" sz="1050" dirty="0">
                        <a:solidFill>
                          <a:srgbClr val="00B0F0"/>
                        </a:solidFill>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extLst>
                  <a:ext uri="{0D108BD9-81ED-4DB2-BD59-A6C34878D82A}">
                    <a16:rowId xmlns:a16="http://schemas.microsoft.com/office/drawing/2014/main" val="10000"/>
                  </a:ext>
                </a:extLst>
              </a:tr>
              <a:tr h="713232">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Attention-LSTM for Stock Price Prediction</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Lin et al., 2022</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AT-LSTM Multi-head</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RMSE: 0.6736, MAE: 0.4858</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No XAI (SHAP/LIME), no dashboard</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extLst>
                  <a:ext uri="{0D108BD9-81ED-4DB2-BD59-A6C34878D82A}">
                    <a16:rowId xmlns:a16="http://schemas.microsoft.com/office/drawing/2014/main" val="10001"/>
                  </a:ext>
                </a:extLst>
              </a:tr>
              <a:tr h="713232">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Explainable DL for Market Trend</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Muhammad et al., 2024</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DNN + SHAP + LIME</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Accuracy: 94.9%, F1: 93.6%</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No real time </a:t>
                      </a:r>
                      <a:r>
                        <a:rPr lang="en-US" sz="1200" dirty="0" err="1">
                          <a:solidFill>
                            <a:srgbClr val="FFFFFF"/>
                          </a:solidFill>
                          <a:latin typeface="Calibri" pitchFamily="34" charset="0"/>
                          <a:ea typeface="Calibri" pitchFamily="34" charset="-122"/>
                          <a:cs typeface="Calibri" pitchFamily="34" charset="-120"/>
                        </a:rPr>
                        <a:t>system,price</a:t>
                      </a:r>
                      <a:r>
                        <a:rPr lang="en-US" sz="1200" dirty="0">
                          <a:solidFill>
                            <a:srgbClr val="FFFFFF"/>
                          </a:solidFill>
                          <a:latin typeface="Calibri" pitchFamily="34" charset="0"/>
                          <a:ea typeface="Calibri" pitchFamily="34" charset="-122"/>
                          <a:cs typeface="Calibri" pitchFamily="34" charset="-120"/>
                        </a:rPr>
                        <a:t> only</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extLst>
                  <a:ext uri="{0D108BD9-81ED-4DB2-BD59-A6C34878D82A}">
                    <a16:rowId xmlns:a16="http://schemas.microsoft.com/office/drawing/2014/main" val="10002"/>
                  </a:ext>
                </a:extLst>
              </a:tr>
              <a:tr h="713232">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Stock Trend via XAI Deep Learning</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Abdullah et al., 2024</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DNN + SHAP + LIME</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Acc: 94.9%, vs RF 85.1%</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No production dashboard</a:t>
                      </a:r>
                      <a:endParaRPr lang="en-US" sz="1200" dirty="0">
                        <a:latin typeface="Calibri" charset="0"/>
                        <a:ea typeface="Calibri" charset="0"/>
                        <a:cs typeface="Calibri" charset="0"/>
                      </a:endParaRPr>
                    </a:p>
                  </a:txBody>
                  <a:tcPr anchor="ctr">
                    <a:lnL w="10160" cap="flat" cmpd="sng" algn="ctr">
                      <a:solidFill>
                        <a:srgbClr val="1A3A5C"/>
                      </a:solidFill>
                      <a:prstDash val="solid"/>
                      <a:round/>
                      <a:headEnd type="none" w="med" len="med"/>
                      <a:tailEnd type="none" w="med" len="med"/>
                    </a:lnL>
                    <a:lnR w="10160" cap="flat" cmpd="sng" algn="ctr">
                      <a:solidFill>
                        <a:srgbClr val="1A3A5C"/>
                      </a:solidFill>
                      <a:prstDash val="solid"/>
                      <a:round/>
                      <a:headEnd type="none" w="med" len="med"/>
                      <a:tailEnd type="none" w="med" len="med"/>
                    </a:lnR>
                    <a:lnT w="10160" cap="flat" cmpd="sng" algn="ctr">
                      <a:solidFill>
                        <a:srgbClr val="1A3A5C"/>
                      </a:solidFill>
                      <a:prstDash val="solid"/>
                      <a:round/>
                      <a:headEnd type="none" w="med" len="med"/>
                      <a:tailEnd type="none" w="med" len="med"/>
                    </a:lnT>
                    <a:lnB w="10160" cap="flat" cmpd="sng" algn="ctr">
                      <a:solidFill>
                        <a:srgbClr val="1A3A5C"/>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5167EFC4-DEDD-8AAE-9B41-77A7B464723D}"/>
              </a:ext>
            </a:extLst>
          </p:cNvPr>
          <p:cNvSpPr/>
          <p:nvPr/>
        </p:nvSpPr>
        <p:spPr>
          <a:xfrm>
            <a:off x="311150" y="349812"/>
            <a:ext cx="4330700" cy="386788"/>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EXISTING &amp; PROPOSED SYSTEM:</a:t>
            </a:r>
          </a:p>
        </p:txBody>
      </p:sp>
      <p:sp>
        <p:nvSpPr>
          <p:cNvPr id="14" name="Text 11">
            <a:extLst>
              <a:ext uri="{FF2B5EF4-FFF2-40B4-BE49-F238E27FC236}">
                <a16:creationId xmlns:a16="http://schemas.microsoft.com/office/drawing/2014/main" id="{2C8F5033-4181-524F-A5F4-5DCC11A94297}"/>
              </a:ext>
            </a:extLst>
          </p:cNvPr>
          <p:cNvSpPr/>
          <p:nvPr/>
        </p:nvSpPr>
        <p:spPr>
          <a:xfrm>
            <a:off x="384048" y="4023360"/>
            <a:ext cx="3794760" cy="402336"/>
          </a:xfrm>
          <a:prstGeom prst="rect">
            <a:avLst/>
          </a:prstGeom>
          <a:noFill/>
          <a:ln/>
        </p:spPr>
        <p:txBody>
          <a:bodyPr wrap="square" rtlCol="0" anchor="ctr"/>
          <a:lstStyle/>
          <a:p>
            <a:pPr marL="0" indent="0">
              <a:buNone/>
            </a:pPr>
            <a:endParaRPr lang="en-US" sz="1100" dirty="0"/>
          </a:p>
        </p:txBody>
      </p:sp>
      <p:sp>
        <p:nvSpPr>
          <p:cNvPr id="23" name="Text 20">
            <a:extLst>
              <a:ext uri="{FF2B5EF4-FFF2-40B4-BE49-F238E27FC236}">
                <a16:creationId xmlns:a16="http://schemas.microsoft.com/office/drawing/2014/main" id="{AE23AC4D-1390-DC11-B267-ADDC04190EDE}"/>
              </a:ext>
            </a:extLst>
          </p:cNvPr>
          <p:cNvSpPr/>
          <p:nvPr/>
        </p:nvSpPr>
        <p:spPr>
          <a:xfrm>
            <a:off x="4956048" y="4023360"/>
            <a:ext cx="3794760" cy="402336"/>
          </a:xfrm>
          <a:prstGeom prst="rect">
            <a:avLst/>
          </a:prstGeom>
          <a:noFill/>
          <a:ln/>
        </p:spPr>
        <p:txBody>
          <a:bodyPr wrap="square" rtlCol="0" anchor="ctr"/>
          <a:lstStyle/>
          <a:p>
            <a:pPr marL="0" indent="0">
              <a:buNone/>
            </a:pPr>
            <a:endParaRPr lang="en-US" sz="1100" dirty="0"/>
          </a:p>
        </p:txBody>
      </p:sp>
      <p:sp>
        <p:nvSpPr>
          <p:cNvPr id="46" name="Text 5">
            <a:extLst>
              <a:ext uri="{FF2B5EF4-FFF2-40B4-BE49-F238E27FC236}">
                <a16:creationId xmlns:a16="http://schemas.microsoft.com/office/drawing/2014/main" id="{19F3EFFF-DE59-CBA9-686D-76A6992A114E}"/>
              </a:ext>
            </a:extLst>
          </p:cNvPr>
          <p:cNvSpPr/>
          <p:nvPr/>
        </p:nvSpPr>
        <p:spPr>
          <a:xfrm>
            <a:off x="94892" y="1170432"/>
            <a:ext cx="3837028" cy="384048"/>
          </a:xfrm>
          <a:prstGeom prst="rect">
            <a:avLst/>
          </a:prstGeom>
          <a:noFill/>
          <a:ln/>
        </p:spPr>
        <p:txBody>
          <a:bodyPr wrap="square" lIns="0" tIns="0" rIns="0" bIns="0" rtlCol="0" anchor="ctr"/>
          <a:lstStyle/>
          <a:p>
            <a:pPr marL="0" indent="0" algn="ctr">
              <a:buNone/>
            </a:pPr>
            <a:r>
              <a:rPr lang="en-US" sz="1400" b="1" dirty="0">
                <a:solidFill>
                  <a:schemeClr val="bg2"/>
                </a:solidFill>
                <a:latin typeface="Calibri" pitchFamily="34" charset="0"/>
                <a:ea typeface="Calibri" pitchFamily="34" charset="-122"/>
                <a:cs typeface="Calibri" pitchFamily="34" charset="-120"/>
              </a:rPr>
              <a:t>EXISTING SYSTEMS</a:t>
            </a:r>
            <a:endParaRPr lang="en-US" sz="1400" dirty="0">
              <a:solidFill>
                <a:schemeClr val="bg2"/>
              </a:solidFill>
            </a:endParaRPr>
          </a:p>
        </p:txBody>
      </p:sp>
      <p:sp>
        <p:nvSpPr>
          <p:cNvPr id="47" name="Text 6">
            <a:extLst>
              <a:ext uri="{FF2B5EF4-FFF2-40B4-BE49-F238E27FC236}">
                <a16:creationId xmlns:a16="http://schemas.microsoft.com/office/drawing/2014/main" id="{987DF231-FCF7-12BC-C788-E42A8327FC0D}"/>
              </a:ext>
            </a:extLst>
          </p:cNvPr>
          <p:cNvSpPr/>
          <p:nvPr/>
        </p:nvSpPr>
        <p:spPr>
          <a:xfrm>
            <a:off x="384048" y="1645920"/>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Black-box predictions - no reasoning provided</a:t>
            </a:r>
            <a:endParaRPr lang="en-US" sz="1400" dirty="0">
              <a:solidFill>
                <a:schemeClr val="bg2"/>
              </a:solidFill>
            </a:endParaRPr>
          </a:p>
        </p:txBody>
      </p:sp>
      <p:sp>
        <p:nvSpPr>
          <p:cNvPr id="48" name="Text 7">
            <a:extLst>
              <a:ext uri="{FF2B5EF4-FFF2-40B4-BE49-F238E27FC236}">
                <a16:creationId xmlns:a16="http://schemas.microsoft.com/office/drawing/2014/main" id="{1869A06B-33C3-6201-B33A-68C81C6767F1}"/>
              </a:ext>
            </a:extLst>
          </p:cNvPr>
          <p:cNvSpPr/>
          <p:nvPr/>
        </p:nvSpPr>
        <p:spPr>
          <a:xfrm>
            <a:off x="384048" y="2121408"/>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No feature importance or XAI layer</a:t>
            </a:r>
            <a:endParaRPr lang="en-US" sz="1400" dirty="0">
              <a:solidFill>
                <a:schemeClr val="bg2"/>
              </a:solidFill>
            </a:endParaRPr>
          </a:p>
        </p:txBody>
      </p:sp>
      <p:sp>
        <p:nvSpPr>
          <p:cNvPr id="49" name="Text 8">
            <a:extLst>
              <a:ext uri="{FF2B5EF4-FFF2-40B4-BE49-F238E27FC236}">
                <a16:creationId xmlns:a16="http://schemas.microsoft.com/office/drawing/2014/main" id="{A0CBEF3A-6F2E-91D9-D0A9-5E0B0113D6F6}"/>
              </a:ext>
            </a:extLst>
          </p:cNvPr>
          <p:cNvSpPr/>
          <p:nvPr/>
        </p:nvSpPr>
        <p:spPr>
          <a:xfrm>
            <a:off x="384048" y="2596896"/>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Static confidence - no market awareness</a:t>
            </a:r>
            <a:endParaRPr lang="en-US" sz="1400" dirty="0">
              <a:solidFill>
                <a:schemeClr val="bg2"/>
              </a:solidFill>
            </a:endParaRPr>
          </a:p>
        </p:txBody>
      </p:sp>
      <p:sp>
        <p:nvSpPr>
          <p:cNvPr id="50" name="Text 9">
            <a:extLst>
              <a:ext uri="{FF2B5EF4-FFF2-40B4-BE49-F238E27FC236}">
                <a16:creationId xmlns:a16="http://schemas.microsoft.com/office/drawing/2014/main" id="{195551BC-07BB-A032-4923-0A8940675217}"/>
              </a:ext>
            </a:extLst>
          </p:cNvPr>
          <p:cNvSpPr/>
          <p:nvPr/>
        </p:nvSpPr>
        <p:spPr>
          <a:xfrm>
            <a:off x="384048" y="3072384"/>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Separate tools for prediction - explanation</a:t>
            </a:r>
            <a:endParaRPr lang="en-US" sz="1400" dirty="0">
              <a:solidFill>
                <a:schemeClr val="bg2"/>
              </a:solidFill>
            </a:endParaRPr>
          </a:p>
        </p:txBody>
      </p:sp>
      <p:sp>
        <p:nvSpPr>
          <p:cNvPr id="51" name="Text 10">
            <a:extLst>
              <a:ext uri="{FF2B5EF4-FFF2-40B4-BE49-F238E27FC236}">
                <a16:creationId xmlns:a16="http://schemas.microsoft.com/office/drawing/2014/main" id="{91B321C1-9BAA-C1C4-962F-375DFB55DAEB}"/>
              </a:ext>
            </a:extLst>
          </p:cNvPr>
          <p:cNvSpPr/>
          <p:nvPr/>
        </p:nvSpPr>
        <p:spPr>
          <a:xfrm>
            <a:off x="384048" y="3547872"/>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Not regulatory compliant </a:t>
            </a:r>
            <a:endParaRPr lang="en-US" sz="1400" dirty="0">
              <a:solidFill>
                <a:schemeClr val="bg2"/>
              </a:solidFill>
            </a:endParaRPr>
          </a:p>
        </p:txBody>
      </p:sp>
      <p:sp>
        <p:nvSpPr>
          <p:cNvPr id="52" name="Text 11">
            <a:extLst>
              <a:ext uri="{FF2B5EF4-FFF2-40B4-BE49-F238E27FC236}">
                <a16:creationId xmlns:a16="http://schemas.microsoft.com/office/drawing/2014/main" id="{8C23C364-8CDE-CD7B-F097-9C3691142774}"/>
              </a:ext>
            </a:extLst>
          </p:cNvPr>
          <p:cNvSpPr/>
          <p:nvPr/>
        </p:nvSpPr>
        <p:spPr>
          <a:xfrm>
            <a:off x="384048" y="4023360"/>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No ensemble direction signals </a:t>
            </a:r>
            <a:endParaRPr lang="en-US" sz="1400" dirty="0">
              <a:solidFill>
                <a:schemeClr val="bg2"/>
              </a:solidFill>
            </a:endParaRPr>
          </a:p>
        </p:txBody>
      </p:sp>
      <p:sp>
        <p:nvSpPr>
          <p:cNvPr id="54" name="Text 14">
            <a:extLst>
              <a:ext uri="{FF2B5EF4-FFF2-40B4-BE49-F238E27FC236}">
                <a16:creationId xmlns:a16="http://schemas.microsoft.com/office/drawing/2014/main" id="{53D1F87B-04A3-E804-F61E-10B5B156D600}"/>
              </a:ext>
            </a:extLst>
          </p:cNvPr>
          <p:cNvSpPr/>
          <p:nvPr/>
        </p:nvSpPr>
        <p:spPr>
          <a:xfrm>
            <a:off x="4846320" y="1170432"/>
            <a:ext cx="3794760" cy="384048"/>
          </a:xfrm>
          <a:prstGeom prst="rect">
            <a:avLst/>
          </a:prstGeom>
          <a:noFill/>
          <a:ln/>
        </p:spPr>
        <p:txBody>
          <a:bodyPr wrap="square" lIns="0" tIns="0" rIns="0" bIns="0" rtlCol="0" anchor="ctr"/>
          <a:lstStyle/>
          <a:p>
            <a:pPr marL="0" indent="0" algn="ctr">
              <a:buNone/>
            </a:pPr>
            <a:r>
              <a:rPr lang="en-US" sz="1400" b="1" dirty="0">
                <a:solidFill>
                  <a:schemeClr val="bg2"/>
                </a:solidFill>
                <a:latin typeface="Calibri" pitchFamily="34" charset="0"/>
                <a:ea typeface="Calibri" pitchFamily="34" charset="-122"/>
                <a:cs typeface="Calibri" pitchFamily="34" charset="-120"/>
              </a:rPr>
              <a:t>PROPOSED SYSTEM</a:t>
            </a:r>
            <a:endParaRPr lang="en-US" sz="1400" dirty="0">
              <a:solidFill>
                <a:schemeClr val="bg2"/>
              </a:solidFill>
            </a:endParaRPr>
          </a:p>
        </p:txBody>
      </p:sp>
      <p:sp>
        <p:nvSpPr>
          <p:cNvPr id="55" name="Text 15">
            <a:extLst>
              <a:ext uri="{FF2B5EF4-FFF2-40B4-BE49-F238E27FC236}">
                <a16:creationId xmlns:a16="http://schemas.microsoft.com/office/drawing/2014/main" id="{2DC0E22D-085D-6839-1096-DABB13FD0430}"/>
              </a:ext>
            </a:extLst>
          </p:cNvPr>
          <p:cNvSpPr/>
          <p:nvPr/>
        </p:nvSpPr>
        <p:spPr>
          <a:xfrm>
            <a:off x="4956048" y="1645920"/>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LSTM + Attention with full explainability</a:t>
            </a:r>
            <a:endParaRPr lang="en-US" sz="1400" dirty="0">
              <a:solidFill>
                <a:schemeClr val="bg2"/>
              </a:solidFill>
            </a:endParaRPr>
          </a:p>
        </p:txBody>
      </p:sp>
      <p:sp>
        <p:nvSpPr>
          <p:cNvPr id="56" name="Text 16">
            <a:extLst>
              <a:ext uri="{FF2B5EF4-FFF2-40B4-BE49-F238E27FC236}">
                <a16:creationId xmlns:a16="http://schemas.microsoft.com/office/drawing/2014/main" id="{47EBA85F-401C-3F6E-A7AB-367ED6EF1C90}"/>
              </a:ext>
            </a:extLst>
          </p:cNvPr>
          <p:cNvSpPr/>
          <p:nvPr/>
        </p:nvSpPr>
        <p:spPr>
          <a:xfrm>
            <a:off x="4956048" y="2121408"/>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SHAP values for every feature per prediction</a:t>
            </a:r>
            <a:endParaRPr lang="en-US" sz="1400" dirty="0">
              <a:solidFill>
                <a:schemeClr val="bg2"/>
              </a:solidFill>
            </a:endParaRPr>
          </a:p>
        </p:txBody>
      </p:sp>
      <p:sp>
        <p:nvSpPr>
          <p:cNvPr id="57" name="Text 17">
            <a:extLst>
              <a:ext uri="{FF2B5EF4-FFF2-40B4-BE49-F238E27FC236}">
                <a16:creationId xmlns:a16="http://schemas.microsoft.com/office/drawing/2014/main" id="{FBA3CB07-D712-A4A9-BF5F-514F7E4D2921}"/>
              </a:ext>
            </a:extLst>
          </p:cNvPr>
          <p:cNvSpPr/>
          <p:nvPr/>
        </p:nvSpPr>
        <p:spPr>
          <a:xfrm>
            <a:off x="4956048" y="2596896"/>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KMeans regime detection → dynamic confidence</a:t>
            </a:r>
            <a:endParaRPr lang="en-US" sz="1400" dirty="0">
              <a:solidFill>
                <a:schemeClr val="bg2"/>
              </a:solidFill>
            </a:endParaRPr>
          </a:p>
        </p:txBody>
      </p:sp>
      <p:sp>
        <p:nvSpPr>
          <p:cNvPr id="58" name="Text 18">
            <a:extLst>
              <a:ext uri="{FF2B5EF4-FFF2-40B4-BE49-F238E27FC236}">
                <a16:creationId xmlns:a16="http://schemas.microsoft.com/office/drawing/2014/main" id="{282C838D-5A48-48AB-43F7-25795479A5D4}"/>
              </a:ext>
            </a:extLst>
          </p:cNvPr>
          <p:cNvSpPr/>
          <p:nvPr/>
        </p:nvSpPr>
        <p:spPr>
          <a:xfrm>
            <a:off x="4956048" y="3072384"/>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Unified dashboard: predict + explain + visualize</a:t>
            </a:r>
            <a:endParaRPr lang="en-US" sz="1400" dirty="0">
              <a:solidFill>
                <a:schemeClr val="bg2"/>
              </a:solidFill>
            </a:endParaRPr>
          </a:p>
        </p:txBody>
      </p:sp>
      <p:sp>
        <p:nvSpPr>
          <p:cNvPr id="59" name="Text 19">
            <a:extLst>
              <a:ext uri="{FF2B5EF4-FFF2-40B4-BE49-F238E27FC236}">
                <a16:creationId xmlns:a16="http://schemas.microsoft.com/office/drawing/2014/main" id="{F1FBC79B-461D-5A7C-7F48-FBD42AFFE9FD}"/>
              </a:ext>
            </a:extLst>
          </p:cNvPr>
          <p:cNvSpPr/>
          <p:nvPr/>
        </p:nvSpPr>
        <p:spPr>
          <a:xfrm>
            <a:off x="4956048" y="3547872"/>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Regulatory compliant — GDPR / SEC ready</a:t>
            </a:r>
            <a:endParaRPr lang="en-US" sz="1400" dirty="0">
              <a:solidFill>
                <a:schemeClr val="bg2"/>
              </a:solidFill>
            </a:endParaRPr>
          </a:p>
        </p:txBody>
      </p:sp>
      <p:sp>
        <p:nvSpPr>
          <p:cNvPr id="60" name="Text 20">
            <a:extLst>
              <a:ext uri="{FF2B5EF4-FFF2-40B4-BE49-F238E27FC236}">
                <a16:creationId xmlns:a16="http://schemas.microsoft.com/office/drawing/2014/main" id="{7F6D1F2C-DCBD-86C7-8CAE-5A469A409B68}"/>
              </a:ext>
            </a:extLst>
          </p:cNvPr>
          <p:cNvSpPr/>
          <p:nvPr/>
        </p:nvSpPr>
        <p:spPr>
          <a:xfrm>
            <a:off x="4956048" y="4023360"/>
            <a:ext cx="3794760" cy="402336"/>
          </a:xfrm>
          <a:prstGeom prst="rect">
            <a:avLst/>
          </a:prstGeom>
          <a:noFill/>
          <a:ln/>
        </p:spPr>
        <p:txBody>
          <a:bodyPr wrap="square" rtlCol="0" anchor="ctr"/>
          <a:lstStyle/>
          <a:p>
            <a:pPr marL="0" indent="0">
              <a:buNone/>
            </a:pPr>
            <a:r>
              <a:rPr lang="en-US" sz="1400" dirty="0">
                <a:solidFill>
                  <a:schemeClr val="bg2"/>
                </a:solidFill>
                <a:latin typeface="Calibri" pitchFamily="34" charset="0"/>
                <a:ea typeface="Calibri" pitchFamily="34" charset="-122"/>
                <a:cs typeface="Calibri" pitchFamily="34" charset="-120"/>
              </a:rPr>
              <a:t>RSI + MACD + MA ensemble direction signal</a:t>
            </a:r>
            <a:endParaRPr lang="en-US" sz="1400" dirty="0">
              <a:solidFill>
                <a:schemeClr val="bg2"/>
              </a:solidFill>
            </a:endParaRPr>
          </a:p>
        </p:txBody>
      </p:sp>
      <p:sp>
        <p:nvSpPr>
          <p:cNvPr id="62" name="Text 22">
            <a:extLst>
              <a:ext uri="{FF2B5EF4-FFF2-40B4-BE49-F238E27FC236}">
                <a16:creationId xmlns:a16="http://schemas.microsoft.com/office/drawing/2014/main" id="{11E6C844-9A8F-B67F-FFAF-5BCFEC7A01ED}"/>
              </a:ext>
            </a:extLst>
          </p:cNvPr>
          <p:cNvSpPr/>
          <p:nvPr/>
        </p:nvSpPr>
        <p:spPr>
          <a:xfrm>
            <a:off x="3931920" y="2353641"/>
            <a:ext cx="914400" cy="914400"/>
          </a:xfrm>
          <a:prstGeom prst="rect">
            <a:avLst/>
          </a:prstGeom>
          <a:noFill/>
          <a:ln/>
        </p:spPr>
        <p:txBody>
          <a:bodyPr wrap="square" lIns="0" tIns="0" rIns="0" bIns="0" rtlCol="0" anchor="ctr"/>
          <a:lstStyle/>
          <a:p>
            <a:pPr marL="0" indent="0" algn="ctr">
              <a:buNone/>
            </a:pPr>
            <a:r>
              <a:rPr lang="en-US" sz="1400" b="1" dirty="0">
                <a:solidFill>
                  <a:schemeClr val="bg2"/>
                </a:solidFill>
                <a:latin typeface="Calibri" pitchFamily="34" charset="0"/>
                <a:ea typeface="Calibri" pitchFamily="34" charset="-122"/>
                <a:cs typeface="Calibri" pitchFamily="34" charset="-120"/>
              </a:rPr>
              <a:t>VS</a:t>
            </a:r>
            <a:endParaRPr lang="en-US" sz="1400" dirty="0">
              <a:solidFill>
                <a:schemeClr val="bg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D5956FE8-90BD-316E-F727-7AE120C2D4B3}"/>
              </a:ext>
            </a:extLst>
          </p:cNvPr>
          <p:cNvSpPr/>
          <p:nvPr/>
        </p:nvSpPr>
        <p:spPr>
          <a:xfrm>
            <a:off x="311150" y="349812"/>
            <a:ext cx="4330700" cy="386788"/>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SYSTEM ARCHITECTURE</a:t>
            </a:r>
          </a:p>
        </p:txBody>
      </p:sp>
      <p:pic>
        <p:nvPicPr>
          <p:cNvPr id="1026" name="Picture 2">
            <a:extLst>
              <a:ext uri="{FF2B5EF4-FFF2-40B4-BE49-F238E27FC236}">
                <a16:creationId xmlns:a16="http://schemas.microsoft.com/office/drawing/2014/main" id="{189D4E25-DB7F-8D08-C8A6-E509E8F87A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9040" y="914400"/>
            <a:ext cx="3312160" cy="36779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510CBF1F-C269-1C31-C6B7-9B8506B47BD7}"/>
              </a:ext>
            </a:extLst>
          </p:cNvPr>
          <p:cNvSpPr/>
          <p:nvPr/>
        </p:nvSpPr>
        <p:spPr>
          <a:xfrm>
            <a:off x="311150" y="349811"/>
            <a:ext cx="3552342" cy="3937573"/>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PROJECT  FRAMEWORK:</a:t>
            </a:r>
          </a:p>
          <a:p>
            <a:pPr>
              <a:lnSpc>
                <a:spcPts val="2688"/>
              </a:lnSpc>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Backend:                                  </a:t>
            </a:r>
          </a:p>
          <a:p>
            <a:pPr marL="342900" indent="-342900">
              <a:lnSpc>
                <a:spcPts val="2688"/>
              </a:lnSpc>
              <a:buFont typeface="+mj-lt"/>
              <a:buAutoNum type="arabicPeriod"/>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Python</a:t>
            </a:r>
          </a:p>
          <a:p>
            <a:pPr marL="342900" indent="-342900">
              <a:lnSpc>
                <a:spcPts val="2688"/>
              </a:lnSpc>
              <a:buFont typeface="+mj-lt"/>
              <a:buAutoNum type="arabicPeriod"/>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SHAP</a:t>
            </a:r>
          </a:p>
          <a:p>
            <a:pPr marL="342900" indent="-342900">
              <a:lnSpc>
                <a:spcPts val="2688"/>
              </a:lnSpc>
              <a:buFont typeface="+mj-lt"/>
              <a:buAutoNum type="arabicPeriod"/>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Scikit-learn</a:t>
            </a:r>
          </a:p>
          <a:p>
            <a:pPr marL="342900" indent="-342900">
              <a:lnSpc>
                <a:spcPts val="2688"/>
              </a:lnSpc>
              <a:buFont typeface="+mj-lt"/>
              <a:buAutoNum type="arabicPeriod"/>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Fast API</a:t>
            </a:r>
          </a:p>
          <a:p>
            <a:pPr marL="342900" indent="-342900">
              <a:lnSpc>
                <a:spcPts val="2688"/>
              </a:lnSpc>
              <a:buFont typeface="+mj-lt"/>
              <a:buAutoNum type="arabicPeriod"/>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FMP API</a:t>
            </a:r>
          </a:p>
          <a:p>
            <a:pPr>
              <a:lnSpc>
                <a:spcPts val="2688"/>
              </a:lnSpc>
            </a:pP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nSpc>
                <a:spcPts val="2688"/>
              </a:lnSpc>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Frontend:</a:t>
            </a:r>
          </a:p>
          <a:p>
            <a:pPr marL="342900" indent="-342900">
              <a:lnSpc>
                <a:spcPts val="2688"/>
              </a:lnSpc>
              <a:buFont typeface="+mj-lt"/>
              <a:buAutoNum type="arabicPeriod"/>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React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9CA28-3F3E-1A00-C748-69E75DAF252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8347644-67C9-C68E-717C-67EEA37552A3}"/>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95F3C07F-45ED-5603-316A-221FECB6CAEA}"/>
              </a:ext>
            </a:extLst>
          </p:cNvPr>
          <p:cNvSpPr/>
          <p:nvPr/>
        </p:nvSpPr>
        <p:spPr>
          <a:xfrm>
            <a:off x="311150" y="349811"/>
            <a:ext cx="3552342" cy="3937573"/>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RESULTS:</a:t>
            </a:r>
          </a:p>
          <a:p>
            <a:pPr>
              <a:lnSpc>
                <a:spcPts val="2688"/>
              </a:lnSpc>
            </a:pP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D7F2296-6A1B-18C6-C3B6-BA87266248B3}"/>
              </a:ext>
            </a:extLst>
          </p:cNvPr>
          <p:cNvPicPr>
            <a:picLocks noChangeAspect="1"/>
          </p:cNvPicPr>
          <p:nvPr/>
        </p:nvPicPr>
        <p:blipFill>
          <a:blip r:embed="rId4"/>
          <a:srcRect l="5894" t="10477" r="4569" b="6801"/>
          <a:stretch>
            <a:fillRect/>
          </a:stretch>
        </p:blipFill>
        <p:spPr>
          <a:xfrm>
            <a:off x="662380" y="856116"/>
            <a:ext cx="7688333" cy="3663655"/>
          </a:xfrm>
          <a:prstGeom prst="rect">
            <a:avLst/>
          </a:prstGeom>
        </p:spPr>
      </p:pic>
    </p:spTree>
    <p:extLst>
      <p:ext uri="{BB962C8B-B14F-4D97-AF65-F5344CB8AC3E}">
        <p14:creationId xmlns:p14="http://schemas.microsoft.com/office/powerpoint/2010/main" val="496096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5E56E-D429-F75C-6A70-D56C484FF8D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F85CF73-0145-919E-417E-E7A9D108059C}"/>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730615C9-F79B-8E98-F2CF-1C35379263C9}"/>
              </a:ext>
            </a:extLst>
          </p:cNvPr>
          <p:cNvSpPr/>
          <p:nvPr/>
        </p:nvSpPr>
        <p:spPr>
          <a:xfrm>
            <a:off x="311150" y="349811"/>
            <a:ext cx="3552342" cy="3937573"/>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RESULTS:</a:t>
            </a:r>
          </a:p>
          <a:p>
            <a:pPr>
              <a:lnSpc>
                <a:spcPts val="2688"/>
              </a:lnSpc>
            </a:pP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A61C1C33-A6FF-02DD-47F3-36C68A061323}"/>
              </a:ext>
            </a:extLst>
          </p:cNvPr>
          <p:cNvPicPr>
            <a:picLocks noChangeAspect="1"/>
          </p:cNvPicPr>
          <p:nvPr/>
        </p:nvPicPr>
        <p:blipFill>
          <a:blip r:embed="rId4"/>
          <a:srcRect l="7682" t="9183" r="8940" b="20883"/>
          <a:stretch>
            <a:fillRect/>
          </a:stretch>
        </p:blipFill>
        <p:spPr>
          <a:xfrm>
            <a:off x="702452" y="856116"/>
            <a:ext cx="7624037" cy="3597045"/>
          </a:xfrm>
          <a:prstGeom prst="rect">
            <a:avLst/>
          </a:prstGeom>
        </p:spPr>
      </p:pic>
    </p:spTree>
    <p:extLst>
      <p:ext uri="{BB962C8B-B14F-4D97-AF65-F5344CB8AC3E}">
        <p14:creationId xmlns:p14="http://schemas.microsoft.com/office/powerpoint/2010/main" val="2640705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4D053-EABA-7066-6461-1F626CE03DF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50D607E-677A-B56D-F788-3DE4B5D2C413}"/>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D712E890-1C47-B5E7-763B-AE2B6CE698F3}"/>
              </a:ext>
            </a:extLst>
          </p:cNvPr>
          <p:cNvSpPr/>
          <p:nvPr/>
        </p:nvSpPr>
        <p:spPr>
          <a:xfrm>
            <a:off x="311150" y="349811"/>
            <a:ext cx="3552342" cy="3937573"/>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RESULTS:</a:t>
            </a:r>
          </a:p>
          <a:p>
            <a:pPr>
              <a:lnSpc>
                <a:spcPts val="2688"/>
              </a:lnSpc>
            </a:pP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47AD074-33C2-109A-6D78-FB0CB5F50F20}"/>
              </a:ext>
            </a:extLst>
          </p:cNvPr>
          <p:cNvPicPr>
            <a:picLocks noChangeAspect="1"/>
          </p:cNvPicPr>
          <p:nvPr/>
        </p:nvPicPr>
        <p:blipFill>
          <a:blip r:embed="rId4"/>
          <a:srcRect l="7550" t="15659" r="9205" b="3104"/>
          <a:stretch>
            <a:fillRect/>
          </a:stretch>
        </p:blipFill>
        <p:spPr>
          <a:xfrm>
            <a:off x="690342" y="805399"/>
            <a:ext cx="7611926" cy="4178384"/>
          </a:xfrm>
          <a:prstGeom prst="rect">
            <a:avLst/>
          </a:prstGeom>
        </p:spPr>
      </p:pic>
    </p:spTree>
    <p:extLst>
      <p:ext uri="{BB962C8B-B14F-4D97-AF65-F5344CB8AC3E}">
        <p14:creationId xmlns:p14="http://schemas.microsoft.com/office/powerpoint/2010/main" val="3586603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534F8-E1C5-F3B3-77D2-CF586D95ECE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523C1FF-51A6-6367-018F-0B946A61A602}"/>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E51D2543-932F-53A5-B3FF-AAEC497DC5DC}"/>
              </a:ext>
            </a:extLst>
          </p:cNvPr>
          <p:cNvSpPr/>
          <p:nvPr/>
        </p:nvSpPr>
        <p:spPr>
          <a:xfrm>
            <a:off x="311150" y="349811"/>
            <a:ext cx="3552342" cy="3937573"/>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RESULTS:</a:t>
            </a:r>
          </a:p>
          <a:p>
            <a:pPr>
              <a:lnSpc>
                <a:spcPts val="2688"/>
              </a:lnSpc>
            </a:pP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C9B48F37-22A1-25E7-6323-7B97E86F0FC0}"/>
              </a:ext>
            </a:extLst>
          </p:cNvPr>
          <p:cNvPicPr>
            <a:picLocks noChangeAspect="1"/>
          </p:cNvPicPr>
          <p:nvPr/>
        </p:nvPicPr>
        <p:blipFill>
          <a:blip r:embed="rId4"/>
          <a:srcRect l="9536" t="6802" r="9536"/>
          <a:stretch>
            <a:fillRect/>
          </a:stretch>
        </p:blipFill>
        <p:spPr>
          <a:xfrm>
            <a:off x="872011" y="349812"/>
            <a:ext cx="7399978" cy="4793688"/>
          </a:xfrm>
          <a:prstGeom prst="rect">
            <a:avLst/>
          </a:prstGeom>
        </p:spPr>
      </p:pic>
    </p:spTree>
    <p:extLst>
      <p:ext uri="{BB962C8B-B14F-4D97-AF65-F5344CB8AC3E}">
        <p14:creationId xmlns:p14="http://schemas.microsoft.com/office/powerpoint/2010/main" val="1705229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B7611-B342-E445-33DF-1924E8236D2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A75741B-DB76-18B0-B82F-CDD9CE62FE2B}"/>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4F46F128-F39C-C8B7-BC7A-BBD9C2B9CB7F}"/>
              </a:ext>
            </a:extLst>
          </p:cNvPr>
          <p:cNvSpPr/>
          <p:nvPr/>
        </p:nvSpPr>
        <p:spPr>
          <a:xfrm>
            <a:off x="311150" y="349811"/>
            <a:ext cx="3552342" cy="3937573"/>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RESULTS:</a:t>
            </a:r>
          </a:p>
          <a:p>
            <a:pPr>
              <a:lnSpc>
                <a:spcPts val="2688"/>
              </a:lnSpc>
            </a:pP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9B61244-219D-0B62-7698-0270DBF1B6A2}"/>
              </a:ext>
            </a:extLst>
          </p:cNvPr>
          <p:cNvPicPr>
            <a:picLocks noChangeAspect="1"/>
          </p:cNvPicPr>
          <p:nvPr/>
        </p:nvPicPr>
        <p:blipFill>
          <a:blip r:embed="rId4"/>
          <a:srcRect l="8742" t="10007" r="9933" b="38661"/>
          <a:stretch>
            <a:fillRect/>
          </a:stretch>
        </p:blipFill>
        <p:spPr>
          <a:xfrm>
            <a:off x="1338295" y="755060"/>
            <a:ext cx="6111296" cy="2169809"/>
          </a:xfrm>
          <a:prstGeom prst="rect">
            <a:avLst/>
          </a:prstGeom>
        </p:spPr>
      </p:pic>
      <p:pic>
        <p:nvPicPr>
          <p:cNvPr id="8" name="Picture 7">
            <a:extLst>
              <a:ext uri="{FF2B5EF4-FFF2-40B4-BE49-F238E27FC236}">
                <a16:creationId xmlns:a16="http://schemas.microsoft.com/office/drawing/2014/main" id="{A5B43692-0CFC-7A9E-2147-0C1936860970}"/>
              </a:ext>
            </a:extLst>
          </p:cNvPr>
          <p:cNvPicPr>
            <a:picLocks noChangeAspect="1"/>
          </p:cNvPicPr>
          <p:nvPr/>
        </p:nvPicPr>
        <p:blipFill>
          <a:blip r:embed="rId5"/>
          <a:srcRect l="8477" t="8948" r="9139" b="46784"/>
          <a:stretch>
            <a:fillRect/>
          </a:stretch>
        </p:blipFill>
        <p:spPr>
          <a:xfrm>
            <a:off x="1299648" y="2967258"/>
            <a:ext cx="6149944" cy="1943857"/>
          </a:xfrm>
          <a:prstGeom prst="rect">
            <a:avLst/>
          </a:prstGeom>
        </p:spPr>
      </p:pic>
    </p:spTree>
    <p:extLst>
      <p:ext uri="{BB962C8B-B14F-4D97-AF65-F5344CB8AC3E}">
        <p14:creationId xmlns:p14="http://schemas.microsoft.com/office/powerpoint/2010/main" val="637982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D6485-467B-1039-953E-AD63158FF4E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BDB6BD3-9604-88E0-8D2D-A98B45D0378A}"/>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5EEF6671-298B-A61E-1EB9-484BDDF7BBF1}"/>
              </a:ext>
            </a:extLst>
          </p:cNvPr>
          <p:cNvSpPr/>
          <p:nvPr/>
        </p:nvSpPr>
        <p:spPr>
          <a:xfrm>
            <a:off x="311150" y="349811"/>
            <a:ext cx="3552342" cy="3937573"/>
          </a:xfrm>
          <a:prstGeom prst="rect">
            <a:avLst/>
          </a:prstGeom>
          <a:noFill/>
          <a:ln/>
        </p:spPr>
        <p:txBody>
          <a:bodyPr wrap="square" lIns="0" tIns="0" rIns="0" bIns="0" rtlCol="0" anchor="t"/>
          <a:lstStyle/>
          <a:p>
            <a:pPr marL="0" indent="0">
              <a:lnSpc>
                <a:spcPts val="2688"/>
              </a:lnSpc>
              <a:buNone/>
            </a:pPr>
            <a:r>
              <a:rPr lang="en-US" sz="1920" b="1" dirty="0">
                <a:solidFill>
                  <a:srgbClr val="00B0F0"/>
                </a:solidFill>
                <a:latin typeface="Arial" pitchFamily="34" charset="0"/>
                <a:ea typeface="Arial" pitchFamily="34" charset="-122"/>
                <a:cs typeface="Arial" pitchFamily="34" charset="-120"/>
              </a:rPr>
              <a:t>FUTURE SCOPE:</a:t>
            </a:r>
          </a:p>
          <a:p>
            <a:pPr>
              <a:lnSpc>
                <a:spcPts val="2688"/>
              </a:lnSpc>
            </a:pP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 7">
            <a:extLst>
              <a:ext uri="{FF2B5EF4-FFF2-40B4-BE49-F238E27FC236}">
                <a16:creationId xmlns:a16="http://schemas.microsoft.com/office/drawing/2014/main" id="{F439CA63-92B6-0252-EE41-FB6473770ED4}"/>
              </a:ext>
            </a:extLst>
          </p:cNvPr>
          <p:cNvSpPr/>
          <p:nvPr/>
        </p:nvSpPr>
        <p:spPr>
          <a:xfrm>
            <a:off x="208203" y="716829"/>
            <a:ext cx="5817147" cy="1949915"/>
          </a:xfrm>
          <a:prstGeom prst="rect">
            <a:avLst/>
          </a:prstGeom>
          <a:noFill/>
          <a:ln/>
        </p:spPr>
        <p:txBody>
          <a:bodyPr wrap="square" rtlCol="0" anchor="ctr"/>
          <a:lstStyle/>
          <a:p>
            <a:pPr marL="285750" indent="-285750">
              <a:buFont typeface="Arial" panose="020B0604020202020204" pitchFamily="34" charset="0"/>
              <a:buChar char="•"/>
            </a:pPr>
            <a:r>
              <a:rPr lang="en-US" sz="1400" dirty="0">
                <a:solidFill>
                  <a:srgbClr val="FFFFFF"/>
                </a:solidFill>
                <a:latin typeface="Calibri" panose="020F0502020204030204" pitchFamily="34" charset="0"/>
                <a:ea typeface="Calibri" panose="020F0502020204030204" pitchFamily="34" charset="0"/>
                <a:cs typeface="Calibri" panose="020F0502020204030204" pitchFamily="34" charset="0"/>
              </a:rPr>
              <a:t>Sentiment Analysis integration (news + Twitter)</a:t>
            </a:r>
          </a:p>
          <a:p>
            <a:pPr marL="285750" indent="-285750">
              <a:buFont typeface="Arial" panose="020B0604020202020204" pitchFamily="34" charset="0"/>
              <a:buChar char="•"/>
            </a:pPr>
            <a:r>
              <a:rPr lang="en-US" sz="1400" dirty="0">
                <a:solidFill>
                  <a:srgbClr val="FFFFFF"/>
                </a:solidFill>
                <a:latin typeface="Calibri" panose="020F0502020204030204" pitchFamily="34" charset="0"/>
                <a:ea typeface="Calibri" panose="020F0502020204030204" pitchFamily="34" charset="0"/>
                <a:cs typeface="Calibri" panose="020F0502020204030204" pitchFamily="34" charset="0"/>
              </a:rPr>
              <a:t>Real-time WebSocket streaming predictions</a:t>
            </a:r>
          </a:p>
          <a:p>
            <a:pPr marL="285750" indent="-285750">
              <a:buFont typeface="Arial" panose="020B0604020202020204" pitchFamily="34" charset="0"/>
              <a:buChar char="•"/>
            </a:pPr>
            <a:r>
              <a:rPr lang="en-US" sz="1400" dirty="0">
                <a:solidFill>
                  <a:srgbClr val="FFFFFF"/>
                </a:solidFill>
                <a:latin typeface="Calibri" panose="020F0502020204030204" pitchFamily="34" charset="0"/>
                <a:ea typeface="Calibri" panose="020F0502020204030204" pitchFamily="34" charset="0"/>
                <a:cs typeface="Calibri" panose="020F0502020204030204" pitchFamily="34" charset="0"/>
              </a:rPr>
              <a:t>Multi asset portfolio optimization + </a:t>
            </a:r>
            <a:r>
              <a:rPr lang="en-US" sz="1400" dirty="0" err="1">
                <a:solidFill>
                  <a:srgbClr val="FFFFFF"/>
                </a:solidFill>
                <a:latin typeface="Calibri" panose="020F0502020204030204" pitchFamily="34" charset="0"/>
                <a:ea typeface="Calibri" panose="020F0502020204030204" pitchFamily="34" charset="0"/>
                <a:cs typeface="Calibri" panose="020F0502020204030204" pitchFamily="34" charset="0"/>
              </a:rPr>
              <a:t>VaR</a:t>
            </a:r>
            <a:endParaRPr lang="en-US" sz="1400"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rgbClr val="FFFFFF"/>
                </a:solidFill>
                <a:latin typeface="Calibri" panose="020F0502020204030204" pitchFamily="34" charset="0"/>
                <a:ea typeface="Calibri" panose="020F0502020204030204" pitchFamily="34" charset="0"/>
                <a:cs typeface="Calibri" panose="020F0502020204030204" pitchFamily="34" charset="0"/>
              </a:rPr>
              <a:t>Full Transformer architecture (replace LSTM)</a:t>
            </a:r>
          </a:p>
          <a:p>
            <a:pPr marL="285750" indent="-285750">
              <a:buFont typeface="Arial" panose="020B0604020202020204" pitchFamily="34" charset="0"/>
              <a:buChar char="•"/>
            </a:pPr>
            <a:r>
              <a:rPr lang="en-US" sz="1400" dirty="0" err="1">
                <a:solidFill>
                  <a:srgbClr val="FFFFFF"/>
                </a:solidFill>
                <a:latin typeface="Calibri" panose="020F0502020204030204" pitchFamily="34" charset="0"/>
                <a:ea typeface="Calibri" panose="020F0502020204030204" pitchFamily="34" charset="0"/>
                <a:cs typeface="Calibri" panose="020F0502020204030204" pitchFamily="34" charset="0"/>
              </a:rPr>
              <a:t>Backtesting</a:t>
            </a:r>
            <a:r>
              <a:rPr lang="en-US" sz="1400" dirty="0">
                <a:solidFill>
                  <a:srgbClr val="FFFFFF"/>
                </a:solidFill>
                <a:latin typeface="Calibri" panose="020F0502020204030204" pitchFamily="34" charset="0"/>
                <a:ea typeface="Calibri" panose="020F0502020204030204" pitchFamily="34" charset="0"/>
                <a:cs typeface="Calibri" panose="020F0502020204030204" pitchFamily="34" charset="0"/>
              </a:rPr>
              <a:t> engine for historical validation</a:t>
            </a:r>
          </a:p>
          <a:p>
            <a:pPr marL="285750" indent="-285750">
              <a:buFont typeface="Arial" panose="020B0604020202020204" pitchFamily="34" charset="0"/>
              <a:buChar char="•"/>
            </a:pPr>
            <a:r>
              <a:rPr lang="en-US" sz="1400" dirty="0">
                <a:solidFill>
                  <a:srgbClr val="FFFFFF"/>
                </a:solidFill>
                <a:latin typeface="Calibri" panose="020F0502020204030204" pitchFamily="34" charset="0"/>
                <a:ea typeface="Calibri" panose="020F0502020204030204" pitchFamily="34" charset="0"/>
                <a:cs typeface="Calibri" panose="020F0502020204030204" pitchFamily="34" charset="0"/>
              </a:rPr>
              <a:t>Federated learning for enterprise multi bank use</a:t>
            </a:r>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US" sz="1050" dirty="0"/>
          </a:p>
          <a:p>
            <a:endParaRPr lang="en-US" sz="1050" dirty="0"/>
          </a:p>
          <a:p>
            <a:endParaRPr lang="en-US" sz="1050" dirty="0"/>
          </a:p>
        </p:txBody>
      </p:sp>
    </p:spTree>
    <p:extLst>
      <p:ext uri="{BB962C8B-B14F-4D97-AF65-F5344CB8AC3E}">
        <p14:creationId xmlns:p14="http://schemas.microsoft.com/office/powerpoint/2010/main" val="139172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A4CE2C39-674A-74C9-4E44-2586CA105D6A}"/>
              </a:ext>
            </a:extLst>
          </p:cNvPr>
          <p:cNvSpPr/>
          <p:nvPr/>
        </p:nvSpPr>
        <p:spPr>
          <a:xfrm>
            <a:off x="311150" y="349812"/>
            <a:ext cx="4330700" cy="386788"/>
          </a:xfrm>
          <a:prstGeom prst="rect">
            <a:avLst/>
          </a:prstGeom>
          <a:noFill/>
          <a:ln/>
        </p:spPr>
        <p:txBody>
          <a:bodyPr wrap="square" lIns="0" tIns="0" rIns="0" bIns="0" rtlCol="0" anchor="t"/>
          <a:lstStyle/>
          <a:p>
            <a:pPr marL="0" indent="0">
              <a:lnSpc>
                <a:spcPts val="2688"/>
              </a:lnSpc>
              <a:buNone/>
            </a:pPr>
            <a:r>
              <a:rPr lang="en-US" sz="1920" b="1">
                <a:solidFill>
                  <a:srgbClr val="00B0F0"/>
                </a:solidFill>
                <a:latin typeface="Arial" pitchFamily="34" charset="0"/>
                <a:ea typeface="Arial" pitchFamily="34" charset="-122"/>
                <a:cs typeface="Arial" pitchFamily="34" charset="-120"/>
              </a:rPr>
              <a:t>REFERENCES:</a:t>
            </a:r>
          </a:p>
        </p:txBody>
      </p:sp>
      <p:sp>
        <p:nvSpPr>
          <p:cNvPr id="4" name="Text 1">
            <a:extLst>
              <a:ext uri="{FF2B5EF4-FFF2-40B4-BE49-F238E27FC236}">
                <a16:creationId xmlns:a16="http://schemas.microsoft.com/office/drawing/2014/main" id="{1BD600BE-D963-8F4C-2EA1-B91E10155743}"/>
              </a:ext>
            </a:extLst>
          </p:cNvPr>
          <p:cNvSpPr/>
          <p:nvPr/>
        </p:nvSpPr>
        <p:spPr>
          <a:xfrm>
            <a:off x="311149" y="787962"/>
            <a:ext cx="8190953" cy="3880928"/>
          </a:xfrm>
          <a:prstGeom prst="rect">
            <a:avLst/>
          </a:prstGeom>
          <a:noFill/>
          <a:ln/>
        </p:spPr>
        <p:txBody>
          <a:bodyPr wrap="square" lIns="0" tIns="0" rIns="0" bIns="0" rtlCol="0" anchor="t"/>
          <a:lstStyle/>
          <a:p>
            <a:r>
              <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rPr>
              <a:t>[1] Yuyang Lin &amp; Qi Huang &amp; </a:t>
            </a:r>
            <a:r>
              <a:rPr lang="en-IN"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Qiyin</a:t>
            </a:r>
            <a:r>
              <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rPr>
              <a:t> Zhong &amp; Muyang Li &amp; Yan Li &amp; Fei Ma, 2022. "A new attention-based LSTM model for closing stock price prediction," International Journal of Financial Engineering (IJFE), World Scientific Publishing Co. </a:t>
            </a:r>
            <a:r>
              <a:rPr lang="en-IN"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Pte.</a:t>
            </a:r>
            <a:r>
              <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rPr>
              <a:t> Ltd., vol. 9(03).</a:t>
            </a:r>
            <a:endParaRPr lang="en-IN" sz="1400" dirty="0">
              <a:solidFill>
                <a:srgbClr val="0070C0"/>
              </a:solidFill>
              <a:latin typeface="Calibri" panose="020F0502020204030204" pitchFamily="34" charset="0"/>
              <a:ea typeface="Calibri" panose="020F0502020204030204" pitchFamily="34" charset="0"/>
              <a:cs typeface="Calibri" panose="020F0502020204030204" pitchFamily="34" charset="0"/>
            </a:endParaRPr>
          </a:p>
          <a:p>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rPr>
              <a:t>[2]Muhammad, Dost &amp; Ahmed, Iftikhar &amp; Naveed, Khwaja &amp; </a:t>
            </a:r>
            <a:r>
              <a:rPr lang="en-IN"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Bendechache</a:t>
            </a:r>
            <a:r>
              <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rPr>
              <a:t>, Malika. (2024). An explainable deep learning approach for stock market trend prediction. </a:t>
            </a:r>
            <a:r>
              <a:rPr lang="en-IN"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Heliyon</a:t>
            </a:r>
            <a:r>
              <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rPr>
              <a:t>. 10. e40095. 10.1016/j.heliyon.2024.e40095.</a:t>
            </a:r>
          </a:p>
          <a:p>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[3]Muhammad D, Ahmed I, Naveed K, </a:t>
            </a:r>
            <a:r>
              <a:rPr lang="en-US"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Bendechache</a:t>
            </a: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 M. An explainable deep learning approach for stock market trend prediction. </a:t>
            </a:r>
            <a:r>
              <a:rPr lang="en-US"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Heliyon</a:t>
            </a: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 2024 Nov 5;10(21):e40095. </a:t>
            </a:r>
            <a:r>
              <a:rPr lang="en-US"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doi</a:t>
            </a: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 10.1016/j.heliyon.2024.e40095. PMID: 39568823; PMCID: PMC11577217</a:t>
            </a:r>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[4]J. J and V. V. S. K. </a:t>
            </a:r>
            <a:r>
              <a:rPr lang="en-US"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Goditi</a:t>
            </a: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 "Integration of a Hybrid Model with XAI for Stock Price Forecasting: A Dashboard-Driven Approach," 2024 International Conference on IT Innovation and Knowledge Discovery (ITIKD), Manama, Bahrain, 2025, pp. 1-5, </a:t>
            </a:r>
            <a:r>
              <a:rPr lang="en-US" sz="1400" dirty="0" err="1">
                <a:solidFill>
                  <a:schemeClr val="bg2"/>
                </a:solidFill>
                <a:latin typeface="Calibri" panose="020F0502020204030204" pitchFamily="34" charset="0"/>
                <a:ea typeface="Calibri" panose="020F0502020204030204" pitchFamily="34" charset="0"/>
                <a:cs typeface="Calibri" panose="020F0502020204030204" pitchFamily="34" charset="0"/>
              </a:rPr>
              <a:t>doi</a:t>
            </a: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 10.1109/ITIKD63574.2025.11005353.</a:t>
            </a:r>
          </a:p>
          <a:p>
            <a:endParaRPr lang="en-IN" sz="14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45FFB-2083-7531-7231-82BE92AE576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BA4B509-8A9C-05A3-D470-8FDFCBE151D6}"/>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1">
            <a:extLst>
              <a:ext uri="{FF2B5EF4-FFF2-40B4-BE49-F238E27FC236}">
                <a16:creationId xmlns:a16="http://schemas.microsoft.com/office/drawing/2014/main" id="{BA4134B7-B20A-709D-794C-8716AF9F4776}"/>
              </a:ext>
            </a:extLst>
          </p:cNvPr>
          <p:cNvSpPr/>
          <p:nvPr/>
        </p:nvSpPr>
        <p:spPr>
          <a:xfrm>
            <a:off x="311150" y="349812"/>
            <a:ext cx="4330700" cy="386788"/>
          </a:xfrm>
          <a:prstGeom prst="rect">
            <a:avLst/>
          </a:prstGeom>
          <a:noFill/>
          <a:ln/>
        </p:spPr>
        <p:txBody>
          <a:bodyPr wrap="square" lIns="0" tIns="0" rIns="0" bIns="0" rtlCol="0" anchor="t"/>
          <a:lstStyle/>
          <a:p>
            <a:pPr marL="0" indent="0">
              <a:lnSpc>
                <a:spcPts val="2688"/>
              </a:lnSpc>
              <a:buNone/>
            </a:pPr>
            <a:r>
              <a:rPr lang="en-US" sz="1920" b="1">
                <a:solidFill>
                  <a:srgbClr val="00B0F0"/>
                </a:solidFill>
                <a:latin typeface="Arial" pitchFamily="34" charset="0"/>
                <a:ea typeface="Arial" pitchFamily="34" charset="-122"/>
                <a:cs typeface="Arial" pitchFamily="34" charset="-120"/>
              </a:rPr>
              <a:t>CONCLUSION:</a:t>
            </a:r>
          </a:p>
        </p:txBody>
      </p:sp>
      <p:sp>
        <p:nvSpPr>
          <p:cNvPr id="4" name="Text 1">
            <a:extLst>
              <a:ext uri="{FF2B5EF4-FFF2-40B4-BE49-F238E27FC236}">
                <a16:creationId xmlns:a16="http://schemas.microsoft.com/office/drawing/2014/main" id="{7BD0D31B-5164-7F48-7137-621FCD1AD9AA}"/>
              </a:ext>
            </a:extLst>
          </p:cNvPr>
          <p:cNvSpPr/>
          <p:nvPr/>
        </p:nvSpPr>
        <p:spPr>
          <a:xfrm>
            <a:off x="311150" y="787962"/>
            <a:ext cx="7880350" cy="1428188"/>
          </a:xfrm>
          <a:prstGeom prst="rect">
            <a:avLst/>
          </a:prstGeom>
          <a:noFill/>
          <a:ln/>
        </p:spPr>
        <p:txBody>
          <a:bodyPr wrap="square" lIns="0" tIns="0" rIns="0" bIns="0" rtlCol="0" anchor="t"/>
          <a:lstStyle/>
          <a:p>
            <a:pPr marL="0" indent="0" algn="just">
              <a:lnSpc>
                <a:spcPts val="2688"/>
              </a:lnSpc>
              <a:buNone/>
            </a:pPr>
            <a:r>
              <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rPr>
              <a:t>Our project bridges the gap between AI capability and regulatory compliance. Which proves that production grade explainable AI for financial markets is achievable, scalable, and deployable enabling banks to confidently leverage deep learning while maintaining full auditability and user trust.</a:t>
            </a:r>
          </a:p>
        </p:txBody>
      </p:sp>
    </p:spTree>
    <p:extLst>
      <p:ext uri="{BB962C8B-B14F-4D97-AF65-F5344CB8AC3E}">
        <p14:creationId xmlns:p14="http://schemas.microsoft.com/office/powerpoint/2010/main" val="16333908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TotalTime>
  <Words>862</Words>
  <Application>Microsoft Office PowerPoint</Application>
  <PresentationFormat>On-screen Show (16:9)</PresentationFormat>
  <Paragraphs>114</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DATTU RAGHUNANDAN</cp:lastModifiedBy>
  <cp:revision>14</cp:revision>
  <dcterms:created xsi:type="dcterms:W3CDTF">2025-12-22T07:06:57Z</dcterms:created>
  <dcterms:modified xsi:type="dcterms:W3CDTF">2026-10-09T17:13:15Z</dcterms:modified>
</cp:coreProperties>
</file>